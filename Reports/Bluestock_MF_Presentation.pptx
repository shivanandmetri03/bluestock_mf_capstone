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050" b="0" i="0" u="none" strike="noStrike">
                <a:solidFill>
                  <a:srgbClr val="0D2137"/>
                </a:solidFill>
                <a:latin typeface="Arial"/>
              </a:rPr>
              <a:t>NAV Index (Base 100, Jan 2022)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Large Cap Avg</c:v>
                </c:pt>
              </c:strCache>
            </c:strRef>
          </c:tx>
          <c:spPr>
            <a:ln w="31750" cap="flat">
              <a:solidFill>
                <a:srgbClr val="0E74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490"/>
              </a:solidFill>
              <a:ln w="9525" cap="flat">
                <a:solidFill>
                  <a:srgbClr val="0E749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Jul-25</c:v>
                </c:pt>
                <c:pt idx="8">
                  <c:v>May-26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92</c:v>
                </c:pt>
                <c:pt idx="2">
                  <c:v>108</c:v>
                </c:pt>
                <c:pt idx="3">
                  <c:v>121</c:v>
                </c:pt>
                <c:pt idx="4">
                  <c:v>135</c:v>
                </c:pt>
                <c:pt idx="5">
                  <c:v>148</c:v>
                </c:pt>
                <c:pt idx="6">
                  <c:v>162</c:v>
                </c:pt>
                <c:pt idx="7">
                  <c:v>157</c:v>
                </c:pt>
                <c:pt idx="8">
                  <c:v>178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662-490D-B55D-1A38C93DFA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Cap Avg</c:v>
                </c:pt>
              </c:strCache>
            </c:strRef>
          </c:tx>
          <c:spPr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Jul-25</c:v>
                </c:pt>
                <c:pt idx="8">
                  <c:v>May-26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100</c:v>
                </c:pt>
                <c:pt idx="1">
                  <c:v>86</c:v>
                </c:pt>
                <c:pt idx="2">
                  <c:v>104</c:v>
                </c:pt>
                <c:pt idx="3">
                  <c:v>131</c:v>
                </c:pt>
                <c:pt idx="4">
                  <c:v>152</c:v>
                </c:pt>
                <c:pt idx="5">
                  <c:v>174</c:v>
                </c:pt>
                <c:pt idx="6">
                  <c:v>196</c:v>
                </c:pt>
                <c:pt idx="7">
                  <c:v>182</c:v>
                </c:pt>
                <c:pt idx="8">
                  <c:v>215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662-490D-B55D-1A38C93DFA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EEF4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0D2137"/>
                </a:solidFill>
                <a:latin typeface="Arial"/>
              </a:rPr>
              <a:t>Monthly SIP Inflows (₹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12328</c:v>
                </c:pt>
                <c:pt idx="1">
                  <c:v>14276</c:v>
                </c:pt>
                <c:pt idx="2">
                  <c:v>19271</c:v>
                </c:pt>
                <c:pt idx="3">
                  <c:v>24332</c:v>
                </c:pt>
                <c:pt idx="4">
                  <c:v>26000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0F-4021-978E-96E4906784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EF4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FFFFFF"/>
                </a:solidFill>
                <a:latin typeface="Arial"/>
              </a:rPr>
              <a:t>Investor Age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20-4CA5-B112-CB2C18F5AE31}"/>
              </c:ext>
            </c:extLst>
          </c:dPt>
          <c:dPt>
            <c:idx val="1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20-4CA5-B112-CB2C18F5AE31}"/>
              </c:ext>
            </c:extLst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320-4CA5-B112-CB2C18F5AE31}"/>
              </c:ext>
            </c:extLst>
          </c:dPt>
          <c:dPt>
            <c:idx val="3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320-4CA5-B112-CB2C18F5AE3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20-4CA5-B112-CB2C18F5AE3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20-4CA5-B112-CB2C18F5AE3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320-4CA5-B112-CB2C18F5AE3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320-4CA5-B112-CB2C18F5AE3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18–25</c:v>
                </c:pt>
                <c:pt idx="1">
                  <c:v>26–35</c:v>
                </c:pt>
                <c:pt idx="2">
                  <c:v>36–50</c:v>
                </c:pt>
                <c:pt idx="3">
                  <c:v>51+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18.399999999999999</c:v>
                </c:pt>
                <c:pt idx="1">
                  <c:v>38.700000000000003</c:v>
                </c:pt>
                <c:pt idx="2">
                  <c:v>31.2</c:v>
                </c:pt>
                <c:pt idx="3">
                  <c:v>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20-4CA5-B112-CB2C18F5A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solidFill>
      <a:srgbClr val="162D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FFFFFF"/>
                </a:solidFill>
                <a:latin typeface="Arial"/>
              </a:rPr>
              <a:t>Transaction Mix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A7-40CE-A693-95F9F819A4CB}"/>
              </c:ext>
            </c:extLst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A7-40CE-A693-95F9F819A4CB}"/>
              </c:ext>
            </c:extLst>
          </c:dPt>
          <c:dPt>
            <c:idx val="2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A7-40CE-A693-95F9F819A4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SIP</c:v>
                </c:pt>
                <c:pt idx="1">
                  <c:v>Lumpsum</c:v>
                </c:pt>
                <c:pt idx="2">
                  <c:v>Redemption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68.2</c:v>
                </c:pt>
                <c:pt idx="1">
                  <c:v>20.100000000000001</c:v>
                </c:pt>
                <c:pt idx="2">
                  <c:v>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A7-40CE-A693-95F9F819A4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D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038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D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D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367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[morning/afternoon]. My name is Shivanand Metri and I am a PGDM student at M.S. Ramaiah Institute of Management specialising in Finance and Business Analytics.
Over the past five days at Bluestock Fintech, I designed and delivered an end-to-end Mutual Fund Analytics Platform — covering data engineering, database design, exploratory analysis, performance modelling, and a fully interactive Power BI dashboard.
This presentation walks you through the architecture, methodology, findings, and strategic recommendations that emerged from this project.
VISUAL NOTE: Decorative chart-bar motif on the right side represents the analytics theme. Replace the right side with your actual Power BI dashboard screenshot for a polished final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mutual fund industry has crossed Rs. 81 lakh crore in AUM with over 26 crore unique investors — yet retail analytics tools remain severely limited.
There are four critical industry gaps this project addresses:
1. Data fragmentation: NAV, AUM, SIP data sits across multiple formats on AMFI's website
2. No risk-adjusted analytics: most platforms show only raw returns, not Sharpe or Alpha
3. Static reporting: monthly PDFs provide zero interactivity or real-time filtering
4. Behavioural blind spots: demographic and geographic investor patterns are not analysed
Our six project objectives address all four gaps systematically — from raw data ingestion through to a live Power BI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used ten publicly available datasets from AMFI India — covering NAV history, AUM, SIP flows, investor transactions, portfolio holdings, and benchmark indices.
In addition, live NAV data was fetched via the mfapi.in REST API for five selected large-cap schemes, enabling real-time data ingestion as part of the ETL pipeline.
The technology stack mirrors a production-grade fintech analytics environment:
- Python and Pandas for all data processing
- PostgreSQL for the relational data warehouse
- SQLAlchemy as the ORM layer
- Plotly and Seaborn for analytical visualisation
- Power BI Desktop for the executive dashboard
All tools are open source or free-tier, demonstrating that institutional-quality analytics infrastructure can be built at near-zero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follows a five-layer data engineering architecture that mirrors production fintech pipelines.
Layer 1 – EXTRACT: Ten CSV datasets are loaded using Pandas, and live NAV data is fetched from the mfapi.in REST API.
Layer 2 – TRANSFORM: Data is cleaned, validated, and enriched. This includes date parsing, null imputation, outlier detection, and computation of derived fields like daily returns.
Layer 3 – LOAD: Cleaned data is pushed to a PostgreSQL star-schema database using SQLAlchemy's ORM layer, with six tables structured for analytical query performance.
Layer 4 – ANALYSE: Jupyter notebooks execute EDA (Day 3) and performance analytics (Day 4), generating 15+ charts and 8 risk metrics per fund.
Layer 5 – VISUALISE: Power BI Desktop connects to PostgreSQL via ODBC and renders the four-page executive dashboard.
The modular architecture means any layer can be updated independently — for example, adding a new data source at Layer 1 without disrupting the dashboard at Layer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database uses a classic Star Schema — the industry standard for analytical (OLAP) workloads.
Two dimension tables:
- dim_fund: Fund master data including AMC name, SEBI category, expense ratio, and risk grade
- dim_date: Date dimension with year, quarter, month attributes and a trading-day flag
Four fact tables:
- fact_nav: 46,000 daily NAV records with computed daily returns
- fact_transactions: 87,000+ investor transaction records with demographics and geography
- fact_performance: One row per fund containing all 8 risk-adjusted performance metrics
- fact_aum: Quarterly AUM data by fund house
This design was chosen over a snowflake schema because Power BI's DirectQuery mode performs significantly better with fewer joins, and the small dimension table sizes make denormalisation cost-free.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 of the internship was dedicated to Exploratory Data Analysis across all six datasets.
NAV Trends: Mid-cap funds significantly outperformed large-cap over the 4.5-year analysis window — +115% vs +78%. Both categories showed a correction in mid-2022 followed by strong recovery.
SIP Growth: Monthly SIP inflows grew from Rs. 12,328 crore in FY22 to Rs. 26,000 crore in FY26 — a CAGR of 17.3%, demonstrating structural household savings migration to mutual funds.
AUM Concentration: The top 3 AMCs manage 41% of analysed AUM — signalling concentration risk at the industry level.
Correlation: Large-cap inter-fund correlation of 0.82–0.91 means AMC diversification within a single category provides minimal risk reduction.
VISUAL NOTE: Replace the two charts on this slide with actual Matplotlib/Seaborn outputs from your Jupyter notebook for maximum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investor behaviour analytics from Day 3 and the correlation analysis.
Age Distribution: The 26–35 cohort drives 38.7% of all transactions with the highest average SIP amount of Rs. 8,240/month. The 51+ cohort shows the highest tenure — 48 months on average — but smaller volumes.
Transaction Mix: SIP transactions outnumber lumpsum by 3.4:1, consistent with AMFI's industry-wide data. This ratio is healthier in B30 cities.
Geographic: Maharashtra and Karnataka together account for 38.2% of transaction value. However, B30 city investors — despite smaller average ticket sizes — show dramatically lower SIP churn rates.
The most striking finding: SIP discontinuation was near-zero (0.3%) during the Feb–June 2022 market correction. The auto-debit mandate structure removes active decision-making from the investment process — a powerful behavioural design feature.
VISUAL NOTE: Replace the geographic section with an actual Power BI map visual or India state heatmap from your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 focused on computing eight risk-adjusted performance metrics for all 40 fund schemes.
CAGR: 3-year compound annual growth rates ranged from 9.1% (small-cap average) to 16.2% (Mirae Asset Large Cap Direct).
Sharpe Ratio: Measures return per unit of total risk, annualised using sqrt(252) trading days. Mirae Asset leads at 1.84, indicating the best risk-adjusted return in the large-cap universe.
Sortino Ratio: Like Sharpe but only penalises downside volatility. SBI Bluechip's Sortino of 2.31 is the highest across all tested strategies.
Alpha: 62% of the 40 schemes generated positive alpha vs Nifty 100. However, only 41% of regular plan schemes generate net positive alpha after accounting for higher expense ratios.
Maximum Drawdown: Small-cap funds averaged -34.7% MDD vs -21.2% for large-cap — reinforcing the importance of MDD as the primary risk metric for conservative investors.
Risk-free rate of 6.5% (91-day T-bill yield, May 2026) was used consistently across all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5 was dedicated to building the four-page Power BI dashboard that serves as the platform's primary deliverable.
Page 1 — Industry Overview: Targets AMC leadership. Shows total AUM trend, SIP inflow area chart, folio count gauges, and a fund house market-share treemap.
Page 2 — Fund Performance: For financial advisors. Features a Sharpe vs Alpha scatter plot, 3-year CAGR bar chart, maximum drawdown waterfall, and TER vs return scatter.
Page 3 — Investor Analytics: For distribution and marketing teams. Shows age cohort distribution, India state heatmap, SIP/Lumpsum mix, and tenure histograms.
Page 4 — SIP &amp; Market Trends: For risk and compliance teams. Includes monthly SIP growth trend, category inflow analysis, rolling 12-month alpha, and benchmark comparison.
Technical features: 12 DAX measures, ODBC live connection to PostgreSQL, drill-through navigation, and cross-page slicers for AMC, category, date range, risk grade, and geography.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 ACTION REQUIRED FOR THIS SLIDE **
This slide is intentionally left with placeholder boxes for you to insert your actual Power BI screenshots.
Steps to complete this slide:
1. Open your Power BI dashboard (.pbix file)
2. Export each page as PNG: File → Export → Export to PDF → convert to PNG, OR use Windows Snipping Tool
3. Recommended export resolution: 1920×1080 (Full HD)
4. In PowerPoint, delete each placeholder rectangle and insert your screenshot using Insert → Pictures
5. Resize each image to approximately 4.65" × 2.28" and position at the coordinates shown
During your viva or presentation, spend approximately 3–4 minutes on this slide walking through each dashboard page:
- What the page shows
- Key insight visible in the screenshot
- How an end-user would interact with it (filters, drill-through)
This is often the most impactful slide for non-technical evaluators — make it visually polished.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summarises the five most impactful findings and six strategic recommendations.
Finding F1 is particularly important: most retail investors believe holding multiple large-cap funds from different AMCs provides diversification — our correlation analysis proves it does not. True diversification requires moving across categories: large-cap + mid-cap + debt.
Finding F2 has direct actionable value: the 163 bps average difference between direct and regular plans, compounded over 20 years on a standard SIP, results in approximately Rs. 8.5 lakh more in terminal corpus. This is our most investor-relevant finding.
On recommendations:
- R1 and R4 are operational quick-wins Bluestock can implement immediately
- R2 and R3 have direct revenue implications for the platform
- R5 would elevate the platform from retail to institutional grade
- R6 is the most forward-looking — LLM-powered natural language queries represent the next frontier in democratising financial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 — emphasise the full-lifecycle nature of the project.
In five days, this internship delivered:
- A complete ETL pipeline ingesting 10 datasets and live API data
- A production-grade PostgreSQL star-schema warehouse
- 15+ exploratory analysis charts across NAV, AUM, SIP, investor, and benchmark data
- 8 risk-adjusted performance metrics for 40 mutual fund schemes
- A 4-page interactive Power BI dashboard with 12 DAX measures and drill-through navigation
Key personal learning: The ability to translate raw financial data into structured analytical frameworks and then into actionable business insights is the core value a data analyst brings to a fintech organisation.
The most important insight from this project: in a market of 26 crore folios and Rs. 81 lakh crore in AUM, data is not the constraint — interpretation is.
I am happy to take questions on any part of the technical architecture, the analytical methodology, or the business findings.
UPDATE: Replace the email address with your actual contact email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162D4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0" y="3108960"/>
            <a:ext cx="347472" cy="1097280"/>
          </a:xfrm>
          <a:prstGeom prst="roundRect">
            <a:avLst>
              <a:gd name="adj" fmla="val 13158"/>
            </a:avLst>
          </a:prstGeom>
          <a:solidFill>
            <a:srgbClr val="0E749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377440"/>
            <a:ext cx="347472" cy="1828800"/>
          </a:xfrm>
          <a:prstGeom prst="roundRect">
            <a:avLst>
              <a:gd name="adj" fmla="val 13158"/>
            </a:avLst>
          </a:prstGeom>
          <a:solidFill>
            <a:srgbClr val="0E749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2743200"/>
            <a:ext cx="347472" cy="1463040"/>
          </a:xfrm>
          <a:prstGeom prst="roundRect">
            <a:avLst>
              <a:gd name="adj" fmla="val 13158"/>
            </a:avLst>
          </a:prstGeom>
          <a:solidFill>
            <a:srgbClr val="0E749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1645920"/>
            <a:ext cx="347472" cy="2560320"/>
          </a:xfrm>
          <a:prstGeom prst="roundRect">
            <a:avLst>
              <a:gd name="adj" fmla="val 13158"/>
            </a:avLst>
          </a:prstGeom>
          <a:solidFill>
            <a:srgbClr val="0E749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2194560"/>
            <a:ext cx="347472" cy="2011680"/>
          </a:xfrm>
          <a:prstGeom prst="roundRect">
            <a:avLst>
              <a:gd name="adj" fmla="val 13158"/>
            </a:avLst>
          </a:prstGeom>
          <a:solidFill>
            <a:srgbClr val="0E749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4206240"/>
            <a:ext cx="2743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777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" y="12618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BI PLATFORM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1783080"/>
            <a:ext cx="365760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Shivanand Metri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– Finance &amp; Business Analytics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Ramaiah Institute of Management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E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·  Data Analyst Internship  ·  June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  ·   Python  ·  PostgreSQL  ·  Power BI  · Git 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PROJECT OBJECTIVES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₹81L Cr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06040" y="10058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0604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Cr+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60604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Investors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Cr+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75488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SIP A/Cs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GAPS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3317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359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" y="2569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 &amp; SIP data scattered across formats and sources — no unified database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9718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Risk-Adj. Analytics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4360" y="3209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returns dominate; Sharpe, Alpha, Beta absent from retail platforms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361188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639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4360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PDFs outdated the moment published; zero drill-down capability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42519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279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Blind Spot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94360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geographic investor patterns invisible to AMCs &amp; advisors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4632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46320" y="2386584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2386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120640" y="2331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ETL pipeline (Python + MFAPI)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846320" y="2825496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2825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120640" y="2770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star-schema PostgreSQL data warehouse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846320" y="326440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120640" y="32095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EDA with 15+ analytical charts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46320" y="370332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120640" y="36484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8 risk-adjusted performance metrics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846320" y="4142232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4632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5120640" y="4087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4-page interactive Power BI dashboard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846320" y="4581144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46320" y="4581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512064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strategic, data-backed insights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TECHNOLOGY STACK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DATASETS INGESTED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572000" cy="320040"/>
          </a:xfrm>
          <a:prstGeom prst="rect">
            <a:avLst/>
          </a:prstGeom>
          <a:solidFill>
            <a:srgbClr val="EEF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fund_master.csv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10896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across 10 AMCs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673352"/>
            <a:ext cx="4572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673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nav_history.csv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0896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~46,000 daily NAV records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020824"/>
            <a:ext cx="4572000" cy="320040"/>
          </a:xfrm>
          <a:prstGeom prst="rect">
            <a:avLst/>
          </a:prstGeom>
          <a:solidFill>
            <a:srgbClr val="EEF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020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aum_by_fund_house.csv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108960" y="2020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AUM data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2368296"/>
            <a:ext cx="4572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368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monthly_sip_inflows.csv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108960" y="23682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48-month SIP trends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715768"/>
            <a:ext cx="4572000" cy="320040"/>
          </a:xfrm>
          <a:prstGeom prst="rect">
            <a:avLst/>
          </a:prstGeom>
          <a:solidFill>
            <a:srgbClr val="EEF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2715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category_inflows.csv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108960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net flows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3063240"/>
            <a:ext cx="4572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industry_folio_count.csv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10896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penetration stats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3410712"/>
            <a:ext cx="4572000" cy="320040"/>
          </a:xfrm>
          <a:prstGeom prst="rect">
            <a:avLst/>
          </a:prstGeom>
          <a:solidFill>
            <a:srgbClr val="EEF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scheme_performance.csv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108960" y="3410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metrics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3758184"/>
            <a:ext cx="4572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3758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investor_transactions.csv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108960" y="37581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87,000+ transaction rows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4105656"/>
            <a:ext cx="4572000" cy="320040"/>
          </a:xfrm>
          <a:prstGeom prst="rect">
            <a:avLst/>
          </a:prstGeom>
          <a:solidFill>
            <a:srgbClr val="EEF4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4105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portfolio_holdings.csv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108960" y="41056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allocation data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4453128"/>
            <a:ext cx="4572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4453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benchmark_indices.csv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108960" y="4453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/ Nifty 100 / BSE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846320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MFAPI Live NAV Integration  ·  Real-time data via REST API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486400" y="1005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394960" y="1325880"/>
            <a:ext cx="3474720" cy="365760"/>
          </a:xfrm>
          <a:prstGeom prst="roundRect">
            <a:avLst>
              <a:gd name="adj" fmla="val 17500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0" y="1344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486400" y="14996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394960" y="1764792"/>
            <a:ext cx="3474720" cy="365760"/>
          </a:xfrm>
          <a:prstGeom prst="roundRect">
            <a:avLst>
              <a:gd name="adj" fmla="val 17500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0" y="17830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Eng.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5486400" y="1938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NumPy  ·  SciPy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394960" y="2203704"/>
            <a:ext cx="3474720" cy="365760"/>
          </a:xfrm>
          <a:prstGeom prst="roundRect">
            <a:avLst>
              <a:gd name="adj" fmla="val 17500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0" y="2221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486400" y="23774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 ·  SQLAlchemy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394960" y="2642616"/>
            <a:ext cx="3474720" cy="365760"/>
          </a:xfrm>
          <a:prstGeom prst="roundRect">
            <a:avLst>
              <a:gd name="adj" fmla="val 17500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86400" y="26609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5486400" y="28163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·  Seaborn  ·  Plotly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394960" y="3081528"/>
            <a:ext cx="3474720" cy="365760"/>
          </a:xfrm>
          <a:prstGeom prst="roundRect">
            <a:avLst>
              <a:gd name="adj" fmla="val 17500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86400" y="3099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5486400" y="32552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394960" y="3520440"/>
            <a:ext cx="3474720" cy="365760"/>
          </a:xfrm>
          <a:prstGeom prst="roundRect">
            <a:avLst>
              <a:gd name="adj" fmla="val 17500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0" y="35387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486400" y="369417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Lab 4.x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394960" y="3959352"/>
            <a:ext cx="3474720" cy="365760"/>
          </a:xfrm>
          <a:prstGeom prst="roundRect">
            <a:avLst>
              <a:gd name="adj" fmla="val 17500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486400" y="39776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486400" y="41330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 (free REST NAV API)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394960" y="4398264"/>
            <a:ext cx="3474720" cy="365760"/>
          </a:xfrm>
          <a:prstGeom prst="roundRect">
            <a:avLst>
              <a:gd name="adj" fmla="val 17500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486400" y="44165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5486400" y="45720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GitHub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5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ETL PIPELINE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1508760" cy="2331720"/>
          </a:xfrm>
          <a:prstGeom prst="roundRect">
            <a:avLst>
              <a:gd name="adj" fmla="val 6061"/>
            </a:avLst>
          </a:prstGeom>
          <a:solidFill>
            <a:srgbClr val="0E7490">
              <a:alpha val="85000"/>
            </a:srgbClr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1956816"/>
            <a:ext cx="105156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CSVs  ·  mfapi.in REST  ·  NSE/BSE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965960" y="1828800"/>
            <a:ext cx="15544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08760" cy="2331720"/>
          </a:xfrm>
          <a:prstGeom prst="roundRect">
            <a:avLst>
              <a:gd name="adj" fmla="val 6061"/>
            </a:avLst>
          </a:prstGeom>
          <a:solidFill>
            <a:srgbClr val="0F8A8A">
              <a:alpha val="85000"/>
            </a:srgbClr>
          </a:solidFill>
          <a:ln w="19050">
            <a:solidFill>
              <a:srgbClr val="0F8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121408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121408" y="1572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350008" y="1956816"/>
            <a:ext cx="105156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94560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  ·  SciPy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630168" y="1828800"/>
            <a:ext cx="15544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08760" cy="2331720"/>
          </a:xfrm>
          <a:prstGeom prst="roundRect">
            <a:avLst>
              <a:gd name="adj" fmla="val 6061"/>
            </a:avLst>
          </a:prstGeom>
          <a:solidFill>
            <a:srgbClr val="0D7A6A">
              <a:alpha val="85000"/>
            </a:srgbClr>
          </a:solidFill>
          <a:ln w="19050">
            <a:solidFill>
              <a:srgbClr val="0D7A6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785616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785616" y="1572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014216" y="1956816"/>
            <a:ext cx="105156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58768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SQLAlchemy  ·  Star Schema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294376" y="1828800"/>
            <a:ext cx="15544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08760" cy="2331720"/>
          </a:xfrm>
          <a:prstGeom prst="roundRect">
            <a:avLst>
              <a:gd name="adj" fmla="val 6061"/>
            </a:avLst>
          </a:prstGeom>
          <a:solidFill>
            <a:srgbClr val="0B6A50">
              <a:alpha val="85000"/>
            </a:srgbClr>
          </a:solidFill>
          <a:ln w="19050">
            <a:solidFill>
              <a:srgbClr val="0B6A5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449824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5449824" y="1572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78424" y="1956816"/>
            <a:ext cx="105156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22976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Lab  ·  Matplotlib  ·  Plotly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958584" y="1828800"/>
            <a:ext cx="155448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08760" cy="2331720"/>
          </a:xfrm>
          <a:prstGeom prst="roundRect">
            <a:avLst>
              <a:gd name="adj" fmla="val 6061"/>
            </a:avLst>
          </a:prstGeom>
          <a:solidFill>
            <a:srgbClr val="D4A017">
              <a:alpha val="85000"/>
            </a:srgbClr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114032" y="1097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7114032" y="1572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342632" y="1956816"/>
            <a:ext cx="105156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87184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4-Page Dashboard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56616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62D42"/>
          </a:solidFill>
          <a:ln w="6350">
            <a:solidFill>
              <a:srgbClr val="8BADC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3611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57200" y="3858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48640" y="41330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CSVs loaded  ·  MFAPI live fetch  ·  AMFI code validation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2121408" y="356616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62D42"/>
          </a:solidFill>
          <a:ln w="6350">
            <a:solidFill>
              <a:srgbClr val="8BADC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121408" y="3611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121408" y="3858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Load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2212848" y="41330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  ·  Date parsing  ·  PostgreSQL bulk insert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3785616" y="356616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62D42"/>
          </a:solidFill>
          <a:ln w="6350">
            <a:solidFill>
              <a:srgbClr val="8BADC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785616" y="3611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3785616" y="3858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EDA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3877056" y="41330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  ·  AUM growth  ·  SIP flows  ·  15+ charts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449824" y="356616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62D42"/>
          </a:solidFill>
          <a:ln w="6350">
            <a:solidFill>
              <a:srgbClr val="8BADC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49824" y="3611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449824" y="3858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5541264" y="41330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 ·  Sharpe  ·  Alpha  ·  Beta  ·  Max Drawdown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114032" y="356616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62D42"/>
          </a:solidFill>
          <a:ln w="6350">
            <a:solidFill>
              <a:srgbClr val="8BADC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14032" y="3611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114032" y="38587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7205472" y="413308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 ·  DAX measures  ·  Drill-through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 —  STAR SCHEMA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0E7490">
              <a:alpha val="90000"/>
            </a:srgbClr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042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 (PK)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fund_house  ·  category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expense_ratio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risk_grade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858000" y="1005840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0E7490">
              <a:alpha val="90000"/>
            </a:srgbClr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0" y="10424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4944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 (PK)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·  quarter  ·  month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trading_day_flag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97480" y="100584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0D2137">
              <a:alpha val="95000"/>
            </a:srgbClr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97480" y="10424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88920" y="13167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 (FK)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date_id (FK)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 ·  daily_return_pct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4320" y="3200400"/>
            <a:ext cx="3337560" cy="1188720"/>
          </a:xfrm>
          <a:prstGeom prst="roundRect">
            <a:avLst>
              <a:gd name="adj" fmla="val 7692"/>
            </a:avLst>
          </a:prstGeom>
          <a:solidFill>
            <a:srgbClr val="0D2137">
              <a:alpha val="95000"/>
            </a:srgbClr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74320" y="32369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5760" y="351129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 ·  amfi_code (FK)  ·  investor_id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transaction_type  ·  amount_inr  ·  city_tier  ·  state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840480" y="3200400"/>
            <a:ext cx="3337560" cy="1188720"/>
          </a:xfrm>
          <a:prstGeom prst="roundRect">
            <a:avLst>
              <a:gd name="adj" fmla="val 7692"/>
            </a:avLst>
          </a:prstGeom>
          <a:solidFill>
            <a:srgbClr val="0D2137">
              <a:alpha val="95000"/>
            </a:srgbClr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840480" y="32369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fact_performance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31920" y="351129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 (FK)  ·  sharpe_ratio  ·  alpha  ·  beta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cagr_1yr/3yr/5yr  ·  sortino  ·  max_drawdown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040880" y="32004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D2137">
              <a:alpha val="95000"/>
            </a:srgbClr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40880" y="32369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fact_aum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132320" y="3511296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fund_house  ·  date_id (FK)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aum_crore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148840" y="1627632"/>
            <a:ext cx="54864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35040" y="1627632"/>
            <a:ext cx="82296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91840" y="2240280"/>
            <a:ext cx="0" cy="96012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5577840" y="2240280"/>
            <a:ext cx="0" cy="960120"/>
          </a:xfrm>
          <a:prstGeom prst="line">
            <a:avLst/>
          </a:prstGeom>
          <a:noFill/>
          <a:ln w="12700">
            <a:solidFill>
              <a:srgbClr val="D4A017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75488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Optimised for OLAP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514600" y="475488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aggregation queries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54880" y="475488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Power BI relationships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995160" y="475488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&amp; extensible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 —  KEY HIGHLIGHTS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05840"/>
          <a:ext cx="51206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65760" y="3520440"/>
          <a:ext cx="51206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3"/>
          <p:cNvSpPr/>
          <p:nvPr/>
        </p:nvSpPr>
        <p:spPr>
          <a:xfrm>
            <a:off x="5760720" y="1005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669280" y="1335024"/>
            <a:ext cx="3246120" cy="530352"/>
          </a:xfrm>
          <a:prstGeom prst="roundRect">
            <a:avLst>
              <a:gd name="adj" fmla="val 1379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5806440" y="1362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Mid-cap outperformed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806440" y="1572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+115% vs Large Cap +78% over 4.5 years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669280" y="1947672"/>
            <a:ext cx="3246120" cy="530352"/>
          </a:xfrm>
          <a:prstGeom prst="roundRect">
            <a:avLst>
              <a:gd name="adj" fmla="val 1379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806440" y="1975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CAGR +17.3%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806440" y="21854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₹12,328 Cr → ₹26,000 Cr (FY22 to FY26)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669280" y="2560320"/>
            <a:ext cx="3246120" cy="530352"/>
          </a:xfrm>
          <a:prstGeom prst="roundRect">
            <a:avLst>
              <a:gd name="adj" fmla="val 1379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806440" y="25877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AMCs = 41% AUM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806440" y="27980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SBI, ICICI Pru, HDFC dominate the landscape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669280" y="3172968"/>
            <a:ext cx="3246120" cy="530352"/>
          </a:xfrm>
          <a:prstGeom prst="roundRect">
            <a:avLst>
              <a:gd name="adj" fmla="val 1379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806440" y="3200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inter-fund correlation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806440" y="34107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0.82–0.91 within large-cap category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69280" y="3785616"/>
            <a:ext cx="3246120" cy="530352"/>
          </a:xfrm>
          <a:prstGeom prst="roundRect">
            <a:avLst>
              <a:gd name="adj" fmla="val 1379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806440" y="3813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fat tails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806440" y="4023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4.7 — equity returns are non-normal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9280" y="4398264"/>
            <a:ext cx="3246120" cy="530352"/>
          </a:xfrm>
          <a:prstGeom prst="roundRect">
            <a:avLst>
              <a:gd name="adj" fmla="val 13793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806440" y="44256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city SIP stickiness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806440" y="46360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investors show lower SIP churn rates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5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  —  INVESTOR &amp; GEOGRAPHIC INSIGHTS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2926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474720" y="1005840"/>
          <a:ext cx="2926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6583680" y="1005840"/>
            <a:ext cx="2286000" cy="2377440"/>
          </a:xfrm>
          <a:prstGeom prst="roundRect">
            <a:avLst>
              <a:gd name="adj" fmla="val 4000"/>
            </a:avLst>
          </a:prstGeom>
          <a:solidFill>
            <a:srgbClr val="162D42"/>
          </a:solidFill>
          <a:ln w="6350">
            <a:solidFill>
              <a:srgbClr val="8BADC8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58368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SPLIT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6675120" y="1371600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72084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8138160" y="1371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675120" y="1709928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720840" y="1709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8138160" y="17099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675120" y="2048256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720840" y="2048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138160" y="20482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675120" y="2386584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1A3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720840" y="2386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138160" y="23865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675120" y="2724912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1A3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720840" y="2724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138160" y="27249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675120" y="3063240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1A35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72084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(7 states)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138160" y="3063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30.2%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274320" y="352044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162D42"/>
          </a:solidFill>
          <a:ln w="9525">
            <a:solidFill>
              <a:srgbClr val="0E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365760" y="36118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is the Growth Engine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65760" y="411480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(38.7%) &amp; avg SIP: ₹8,240/month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2450592" y="352044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162D42"/>
          </a:solidFill>
          <a:ln w="9525">
            <a:solidFill>
              <a:srgbClr val="0E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2542032" y="36118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= 68% of Transactions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2542032" y="411480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Auto-debit mandates drive behavioural commitment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626864" y="352044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162D42"/>
          </a:solidFill>
          <a:ln w="9525">
            <a:solidFill>
              <a:srgbClr val="0E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4718304" y="36118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= 72% of Value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718304" y="411480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B30 investors show lower churn rates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803136" y="3520440"/>
            <a:ext cx="1993392" cy="1417320"/>
          </a:xfrm>
          <a:prstGeom prst="roundRect">
            <a:avLst>
              <a:gd name="adj" fmla="val 6452"/>
            </a:avLst>
          </a:prstGeom>
          <a:solidFill>
            <a:srgbClr val="162D42"/>
          </a:solidFill>
          <a:ln w="9525">
            <a:solidFill>
              <a:srgbClr val="0E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6894576" y="36118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 SIP Discontinuation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894576" y="411480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even during the 2022 market correction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  —  RISK-ADJUSTED METRICS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 (3-yr)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1645920" cy="4572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99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720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(NAV_end/NAV_start)^(1/3)−1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Mirae: 16.2%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2121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Small Cap: 9.1%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68880" y="1005840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46888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06040" y="1353312"/>
            <a:ext cx="1645920" cy="4572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0320" y="1399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56032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(Rp − Rf) / σ × √252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560320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Mirae: 1.84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60320" y="2121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Axis SC: 0.61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0" y="1005840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7200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 Ratio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1353312"/>
            <a:ext cx="1645920" cy="4572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1399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66344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(Rp − Rf) / σ_down × √252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63440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SBI Bluechip: 2.31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63440" y="2121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Thematic: 0.44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675120" y="1005840"/>
            <a:ext cx="1920240" cy="1874520"/>
          </a:xfrm>
          <a:prstGeom prst="roundRect">
            <a:avLst>
              <a:gd name="adj" fmla="val 4878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67512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(Jensen)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812280" y="1353312"/>
            <a:ext cx="1645920" cy="4572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66560" y="1399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76656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Intercept × 252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766560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+142 bps (HDFC)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766560" y="2121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−84 bps (SC avg)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65760" y="2971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TOP 5 BY SHARPE RATIO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6830568" cy="17556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+142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Top 100 Direct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+128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Bluechip Direct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+118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Bluechip Direct Growth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+104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Prudential Bluechip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+96 bps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5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 —  ARCHITECTURE &amp; FEATURES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1993392" cy="2926080"/>
          </a:xfrm>
          <a:prstGeom prst="roundRect">
            <a:avLst>
              <a:gd name="adj" fmla="val 5505"/>
            </a:avLst>
          </a:prstGeom>
          <a:solidFill>
            <a:srgbClr val="162D42"/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51560"/>
            <a:ext cx="1993392" cy="502920"/>
          </a:xfrm>
          <a:prstGeom prst="rect">
            <a:avLst/>
          </a:prstGeom>
          <a:solidFill>
            <a:srgbClr val="0E749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789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131673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16002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792224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  ·  SIP Inflow Trend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 ·  Fund House Treemap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78892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11480" y="29626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Leadership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78024" y="1051560"/>
            <a:ext cx="1993392" cy="2926080"/>
          </a:xfrm>
          <a:prstGeom prst="roundRect">
            <a:avLst>
              <a:gd name="adj" fmla="val 5505"/>
            </a:avLst>
          </a:prstGeom>
          <a:solidFill>
            <a:srgbClr val="162D42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78024" y="1051560"/>
            <a:ext cx="1993392" cy="502920"/>
          </a:xfrm>
          <a:prstGeom prst="rect">
            <a:avLst/>
          </a:prstGeom>
          <a:solidFill>
            <a:srgbClr val="D4A017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78024" y="10789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69464" y="131673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69464" y="16002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69464" y="1792224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vs Alpha Scatter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Bar  ·  MDD Waterfall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vs Return Scatter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69464" y="278892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569464" y="29626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 ·  Analysts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36008" y="1051560"/>
            <a:ext cx="1993392" cy="2926080"/>
          </a:xfrm>
          <a:prstGeom prst="roundRect">
            <a:avLst>
              <a:gd name="adj" fmla="val 5505"/>
            </a:avLst>
          </a:prstGeom>
          <a:solidFill>
            <a:srgbClr val="162D42"/>
          </a:solidFill>
          <a:ln w="19050">
            <a:solidFill>
              <a:srgbClr val="2A9D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36008" y="1051560"/>
            <a:ext cx="1993392" cy="502920"/>
          </a:xfrm>
          <a:prstGeom prst="rect">
            <a:avLst/>
          </a:prstGeom>
          <a:solidFill>
            <a:srgbClr val="2A9D8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10789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27448" y="131673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27448" y="16002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27448" y="1792224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Cohort Bar  ·  State Heatmap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SIP/Lumpsum Mix  ·  Tenure Histogram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27448" y="278892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27448" y="29626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Teams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793992" y="1051560"/>
            <a:ext cx="1993392" cy="2926080"/>
          </a:xfrm>
          <a:prstGeom prst="roundRect">
            <a:avLst>
              <a:gd name="adj" fmla="val 5505"/>
            </a:avLst>
          </a:prstGeom>
          <a:solidFill>
            <a:srgbClr val="162D42"/>
          </a:solidFill>
          <a:ln w="19050">
            <a:solidFill>
              <a:srgbClr val="E76F5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793992" y="1051560"/>
            <a:ext cx="1993392" cy="502920"/>
          </a:xfrm>
          <a:prstGeom prst="rect">
            <a:avLst/>
          </a:prstGeom>
          <a:solidFill>
            <a:srgbClr val="E76F51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93992" y="10789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85432" y="131673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885432" y="16002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85432" y="1792224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Growth  ·  Category Flows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Alpha  ·  Benchmark Comparison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85432" y="278892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885432" y="29626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Compliance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20040" y="4069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A1C2E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DAX Measures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11480" y="44074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AUM  ·  YoY SIP Growth  ·  Rolling Alpha  ·  % Beat Benchmark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478024" y="4069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A1C2E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569464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 Live Connect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2569464" y="44074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→ PostgreSQL via ODBC for scheduled data refresh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636008" y="4069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A1C2E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27448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27448" y="44074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Fund-level detail pages with cross-page filter propagation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793992" y="4069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A1C2E"/>
          </a:solidFill>
          <a:ln w="6350">
            <a:solidFill>
              <a:srgbClr val="0E749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85432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Filters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885432" y="440740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 ·  Category  ·  Date Range  ·  Risk Grade  ·  Geography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 —  SCREENSHOTS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51960" cy="2084832"/>
          </a:xfrm>
          <a:prstGeom prst="roundRect">
            <a:avLst>
              <a:gd name="adj" fmla="val 4386"/>
            </a:avLst>
          </a:prstGeom>
          <a:solidFill>
            <a:srgbClr val="162D42"/>
          </a:solidFill>
          <a:ln w="19050">
            <a:solidFill>
              <a:srgbClr val="0E7490"/>
            </a:solidFill>
            <a:prstDash val="dashDot"/>
          </a:ln>
        </p:spPr>
      </p:sp>
      <p:sp>
        <p:nvSpPr>
          <p:cNvPr id="6" name="Text 4"/>
          <p:cNvSpPr/>
          <p:nvPr/>
        </p:nvSpPr>
        <p:spPr>
          <a:xfrm>
            <a:off x="228600" y="16550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 SCREENSHOT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869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 —  Industry Overview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5786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actual Power BI screenshot here (PNG export at 1920×1080)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2084832"/>
          </a:xfrm>
          <a:prstGeom prst="roundRect">
            <a:avLst>
              <a:gd name="adj" fmla="val 4386"/>
            </a:avLst>
          </a:prstGeom>
          <a:solidFill>
            <a:srgbClr val="162D42"/>
          </a:solidFill>
          <a:ln w="19050">
            <a:solidFill>
              <a:srgbClr val="0E7490"/>
            </a:solidFill>
            <a:prstDash val="dashDot"/>
          </a:ln>
        </p:spPr>
      </p:sp>
      <p:sp>
        <p:nvSpPr>
          <p:cNvPr id="10" name="Text 8"/>
          <p:cNvSpPr/>
          <p:nvPr/>
        </p:nvSpPr>
        <p:spPr>
          <a:xfrm>
            <a:off x="4663440" y="16550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 SCREENSHOT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8869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 —  Fund Performance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25786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actual Power BI screenshot here (PNG export at 1920×1080)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4251960" cy="2084832"/>
          </a:xfrm>
          <a:prstGeom prst="roundRect">
            <a:avLst>
              <a:gd name="adj" fmla="val 4386"/>
            </a:avLst>
          </a:prstGeom>
          <a:solidFill>
            <a:srgbClr val="162D42"/>
          </a:solidFill>
          <a:ln w="19050">
            <a:solidFill>
              <a:srgbClr val="0E7490"/>
            </a:solidFill>
            <a:prstDash val="dashDot"/>
          </a:ln>
        </p:spPr>
      </p:sp>
      <p:sp>
        <p:nvSpPr>
          <p:cNvPr id="14" name="Text 12"/>
          <p:cNvSpPr/>
          <p:nvPr/>
        </p:nvSpPr>
        <p:spPr>
          <a:xfrm>
            <a:off x="228600" y="38313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 SCREENSHOT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0632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 —  Investor Analytics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4754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actual Power BI screenshot here (PNG export at 1920×1080)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251960" cy="2084832"/>
          </a:xfrm>
          <a:prstGeom prst="roundRect">
            <a:avLst>
              <a:gd name="adj" fmla="val 4386"/>
            </a:avLst>
          </a:prstGeom>
          <a:solidFill>
            <a:srgbClr val="162D42"/>
          </a:solidFill>
          <a:ln w="19050">
            <a:solidFill>
              <a:srgbClr val="0E7490"/>
            </a:solidFill>
            <a:prstDash val="dashDot"/>
          </a:ln>
        </p:spPr>
      </p:sp>
      <p:sp>
        <p:nvSpPr>
          <p:cNvPr id="18" name="Text 16"/>
          <p:cNvSpPr/>
          <p:nvPr/>
        </p:nvSpPr>
        <p:spPr>
          <a:xfrm>
            <a:off x="4663440" y="38313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POWER BI SCREENSHOT 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0632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 —  SIP &amp; Market Trends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4754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actual Power BI screenshot here (PNG export at 1920×1080)</a:t>
            </a:r>
            <a:endParaRPr lang="en-US" sz="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884DF3E-68C1-878E-298E-89237C120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21" y="1143000"/>
            <a:ext cx="3854518" cy="17099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DE0CCB-7596-A488-F675-2F26DCBC3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960" y="1127368"/>
            <a:ext cx="3778919" cy="174119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226920-821F-A0B5-ED9E-39AFDBA14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21" y="3303270"/>
            <a:ext cx="3854518" cy="169621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CF8AB1-127C-AA1E-4338-7DF26D760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9960" y="3319272"/>
            <a:ext cx="3924000" cy="17655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STRATEGIC RECOMMENDATIONS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335024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444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04672" y="138074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diversification within large-cap is ineffective — inter-fund correlation is 0.82–0.91. True diversification requires cross-category allocation.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048256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1579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4672" y="209397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plans outperform regular plans by 163 bps/year on average. Over 20 years, this equates to ~₹8.5 lakh additional corpus on a ₹10K/month SIP.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761488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7121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04672" y="280720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funds generated positive alpha vs Nifty 100. Only 41% of regular plans achieve net positive alpha after expense ratio deduction.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3474720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5844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04672" y="352044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discontinuation was 0.3% even during the 2022 correction. Auto-debit mandates create powerful behavioural commitment.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5760" y="4187952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EEF4FA"/>
          </a:solidFill>
          <a:ln w="6350">
            <a:solidFill>
              <a:srgbClr val="E2EAF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42976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04672" y="4233672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city investors — smaller ticket sizes but disproportionately high SIP stickiness — represent an underpenetrated, high-value segment.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663440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17720" y="1335024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0D2137">
              <a:alpha val="95000"/>
            </a:srgbClr>
          </a:solidFill>
          <a:ln w="9525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681728" y="138074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102352" y="1380744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NAV Refresh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102352" y="159105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daily mfapi.in cron job to keep analytics current within 24h of AMFI publication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17720" y="194767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0D2137">
              <a:alpha val="95000"/>
            </a:srgbClr>
          </a:solidFill>
          <a:ln w="9525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681728" y="1993392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02352" y="1993392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Recommendation Engine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102352" y="220370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Sharpe/risk-grade scorecard to investor risk appetite — reduce first-investment friction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617720" y="256032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0D2137">
              <a:alpha val="95000"/>
            </a:srgbClr>
          </a:solidFill>
          <a:ln w="9525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681728" y="26060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102352" y="2606040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B30 City Growth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102352" y="281635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UPI-led SIP onboarding for under-penetrated semi-urban investors — potential 15–20% folio expansion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617720" y="3172968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0D2137">
              <a:alpha val="95000"/>
            </a:srgbClr>
          </a:solidFill>
          <a:ln w="9525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681728" y="321868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02352" y="32186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102352" y="342900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Power BI with open-source Streamlit web app — zero licensing cost, browser-accessible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617720" y="3785616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0D2137">
              <a:alpha val="95000"/>
            </a:srgbClr>
          </a:solidFill>
          <a:ln w="9525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4681728" y="3831336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102352" y="3831336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Risk Layer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102352" y="40416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VaR (95%/99%), Monte Carlo NAV projections, and Markowitz Efficient Frontier — institutional grade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617720" y="4398264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0D2137">
              <a:alpha val="95000"/>
            </a:srgbClr>
          </a:solidFill>
          <a:ln w="9525">
            <a:solidFill>
              <a:srgbClr val="D4A01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4681728" y="444398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102352" y="4443984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Query Interface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5102352" y="465429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 over PostgreSQL for non-analyst users — 'Which mid-cap fund led 2024?'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3931920" cy="4663440"/>
          </a:xfrm>
          <a:prstGeom prst="roundRect">
            <a:avLst>
              <a:gd name="adj" fmla="val 2791"/>
            </a:avLst>
          </a:prstGeom>
          <a:solidFill>
            <a:srgbClr val="162D4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850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Ingested &amp; Cleaned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1353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PostgreSQL Warehouse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1856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Records Processed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2359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Computed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88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2862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Charts Generated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3364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Pages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91640" y="3867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Developed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91640" y="4370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— Concept to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7772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production-grade ETL pipelines using Python and REST APIs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41732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325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relational star-schema databases optimised for OLAP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96596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18745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quantitative finance models (Sharpe, Alpha, Beta, MDD) to real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51460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423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raw analytics into strategic business insights for multiple stakeholder groups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29718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interactive BI dashboards with DAX measures and drill-through navigation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61188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3520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 five-day sprint from problem definition to live deliverable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4041648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0E749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40965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617720" y="44805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·  shivanand.metri@msrim.edu.in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3715</Words>
  <Application>Microsoft Office PowerPoint</Application>
  <PresentationFormat>On-screen Show (16:9)</PresentationFormat>
  <Paragraphs>378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 – Bluestock Fintech</dc:title>
  <dc:subject>PptxGenJS Presentation</dc:subject>
  <dc:creator>Shivanand Metri</dc:creator>
  <cp:lastModifiedBy>shivanand metri</cp:lastModifiedBy>
  <cp:revision>4</cp:revision>
  <dcterms:created xsi:type="dcterms:W3CDTF">2026-06-11T07:18:40Z</dcterms:created>
  <dcterms:modified xsi:type="dcterms:W3CDTF">2026-06-11T07:25:40Z</dcterms:modified>
</cp:coreProperties>
</file>